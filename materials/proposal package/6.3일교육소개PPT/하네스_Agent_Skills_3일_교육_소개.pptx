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91640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3794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3일 과정은</a:t>
            </a:r>
          </a:p>
          <a:p>
            <a:pPr algn="l"/>
            <a:r>
              <a:rPr sz="1400" b="1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파일럿 설계</a:t>
            </a:r>
            <a:r>
              <a:rPr sz="14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를 완성하는 과정입니다.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057400"/>
            <a:ext cx="1976018" cy="27432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44641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641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5898337" y="2779776"/>
            <a:ext cx="603504" cy="60350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73353" y="2954792"/>
            <a:ext cx="253471" cy="253471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474720"/>
            <a:ext cx="19760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739896"/>
            <a:ext cx="1976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정렬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4160520"/>
            <a:ext cx="175656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개념 정리 및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요구사항 정렬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4674" y="3328416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2418" y="2057400"/>
            <a:ext cx="1976018" cy="27432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94979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4979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8148675" y="2779776"/>
            <a:ext cx="603504" cy="60350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3691" y="2954792"/>
            <a:ext cx="253471" cy="253471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2418" y="3474720"/>
            <a:ext cx="19760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Day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2418" y="3739896"/>
            <a:ext cx="1976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2146" y="4160520"/>
            <a:ext cx="175656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 구조 설계 및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흐름 정의</a:t>
            </a:r>
          </a:p>
        </p:txBody>
      </p:sp>
      <p:sp>
        <p:nvSpPr>
          <p:cNvPr id="24" name="Chevron 23"/>
          <p:cNvSpPr/>
          <p:nvPr/>
        </p:nvSpPr>
        <p:spPr>
          <a:xfrm>
            <a:off x="9475012" y="3328416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2756" y="2057400"/>
            <a:ext cx="1976018" cy="27432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5318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5318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8" name="Oval 27"/>
          <p:cNvSpPr/>
          <p:nvPr/>
        </p:nvSpPr>
        <p:spPr>
          <a:xfrm>
            <a:off x="10399014" y="2779776"/>
            <a:ext cx="603504" cy="603504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74030" y="2954792"/>
            <a:ext cx="253471" cy="253471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2756" y="3474720"/>
            <a:ext cx="19760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Day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2756" y="3739896"/>
            <a:ext cx="1976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통합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484" y="4160520"/>
            <a:ext cx="175656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통합 및 검증 설계로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 완성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3일 과정이 필요한 경우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단순 이해를 넘어 실제 파일럿을 준비해야 할 때 필요합니다.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5464911" cy="1709927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" y="2564892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065" y="2729301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2157984"/>
            <a:ext cx="450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개념 이해를 넘어야 할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560320"/>
            <a:ext cx="4504791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초안이 아니라 실제 적용안을 만들고자 할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1993392"/>
            <a:ext cx="5464911" cy="1709927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7599" y="2564892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2008" y="2729301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5111" y="2157984"/>
            <a:ext cx="450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후보 업무가 있을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5111" y="2560320"/>
            <a:ext cx="4504791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작게 시작할 업무가 이미 보일 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59352"/>
            <a:ext cx="5464911" cy="1709927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" y="4530852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065" y="4695261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4123944"/>
            <a:ext cx="450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검증 기준이 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526280"/>
            <a:ext cx="4504791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성과와 품질을 확인할 기준이 필요할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3959352"/>
            <a:ext cx="5464911" cy="1709927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7599" y="4530852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62008" y="4695261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5111" y="4123944"/>
            <a:ext cx="4504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협업 구조를 정리할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5111" y="4526280"/>
            <a:ext cx="4504791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현업과 개발이 함께 설계해야 할 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1일 과정 = 초안 작성       </a:t>
            </a:r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3일 과정 = 파일럿 설계</a:t>
            </a:r>
            <a:r>
              <a:rPr sz="1350" b="0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       1주 과정 = 표준화 체계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3일 과정의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업무 시나리오, Skill, Workflow, Verification을 구체화합니다.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2833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2833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523961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83067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 시나리오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대상 업무와 성공 기준 명확화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7963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07877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877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1" name="Oval 20"/>
          <p:cNvSpPr/>
          <p:nvPr/>
        </p:nvSpPr>
        <p:spPr>
          <a:xfrm>
            <a:off x="4389005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48111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7691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구체화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5979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재사용 가능한 업무 지침 정교화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72921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2921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8" name="Oval 27"/>
          <p:cNvSpPr/>
          <p:nvPr/>
        </p:nvSpPr>
        <p:spPr>
          <a:xfrm>
            <a:off x="7254049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13155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 설계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1023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승인·검토 흐름과 예외 처리 설계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051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37965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7965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5" name="Oval 34"/>
          <p:cNvSpPr/>
          <p:nvPr/>
        </p:nvSpPr>
        <p:spPr>
          <a:xfrm>
            <a:off x="10119093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78198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7779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Verification 정리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067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품질 확인 항목과 파일럿 기준 수립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초안</a:t>
            </a:r>
          </a:p>
        </p:txBody>
      </p:sp>
      <p:sp>
        <p:nvSpPr>
          <p:cNvPr id="42" name="Chevron 41"/>
          <p:cNvSpPr/>
          <p:nvPr/>
        </p:nvSpPr>
        <p:spPr>
          <a:xfrm>
            <a:off x="4140098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41266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9594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설계 패키지</a:t>
            </a:r>
          </a:p>
        </p:txBody>
      </p:sp>
      <p:sp>
        <p:nvSpPr>
          <p:cNvPr id="45" name="Chevron 44"/>
          <p:cNvSpPr/>
          <p:nvPr/>
        </p:nvSpPr>
        <p:spPr>
          <a:xfrm>
            <a:off x="7868716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69884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8212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파일럿 준비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3일 과정 전체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1일차 정렬, 2일차 설계, 3일차 통합으로 진행됩니다.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3570122" cy="3712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502920" y="1993392"/>
            <a:ext cx="3570122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93392"/>
            <a:ext cx="357012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560320"/>
            <a:ext cx="335066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정렬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" y="3017520"/>
            <a:ext cx="3277514" cy="457200"/>
          </a:xfrm>
          <a:prstGeom prst="roundRect">
            <a:avLst>
              <a:gd name="adj" fmla="val 18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017520"/>
            <a:ext cx="31312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대상 업무 선정, 목표·범위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602736"/>
            <a:ext cx="3295802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목적과 시나리오 정의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업무 및 대상 선정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목표·범위 및 성공 기준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1993392"/>
            <a:ext cx="3570122" cy="3712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4310786" y="1993392"/>
            <a:ext cx="3570122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0786" y="1993392"/>
            <a:ext cx="357012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0514" y="2560320"/>
            <a:ext cx="335066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7090" y="3017520"/>
            <a:ext cx="3277514" cy="457200"/>
          </a:xfrm>
          <a:prstGeom prst="roundRect">
            <a:avLst>
              <a:gd name="adj" fmla="val 18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0242" y="3017520"/>
            <a:ext cx="31312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Skill, Workflow, Verification 구체화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7090" y="3602736"/>
            <a:ext cx="3295802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Skill 정의 및 재사용 가능성 검토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Workflow 및 Task 상세 설계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기준 및 체계 설계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8652" y="1993392"/>
            <a:ext cx="3570122" cy="3712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118652" y="1993392"/>
            <a:ext cx="3570122" cy="457200"/>
          </a:xfrm>
          <a:prstGeom prst="round2SameRect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8652" y="1993392"/>
            <a:ext cx="357012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Day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8380" y="2560320"/>
            <a:ext cx="335066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통합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4956" y="3017520"/>
            <a:ext cx="3277514" cy="457200"/>
          </a:xfrm>
          <a:prstGeom prst="roundRect">
            <a:avLst>
              <a:gd name="adj" fmla="val 18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8108" y="3017520"/>
            <a:ext cx="31312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파일럿 설계 패키지 완성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3602736"/>
            <a:ext cx="3295802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설계 산출물 통합 및 정합성 점검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및 개선 사항 반영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 설계 패키지 완성 및 공유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정렬</a:t>
            </a:r>
          </a:p>
        </p:txBody>
      </p:sp>
      <p:sp>
        <p:nvSpPr>
          <p:cNvPr id="35" name="Chevron 34"/>
          <p:cNvSpPr/>
          <p:nvPr/>
        </p:nvSpPr>
        <p:spPr>
          <a:xfrm>
            <a:off x="4140098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1266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9594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38" name="Chevron 37"/>
          <p:cNvSpPr/>
          <p:nvPr/>
        </p:nvSpPr>
        <p:spPr>
          <a:xfrm>
            <a:off x="7868716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69884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8212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통합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1: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 시나리오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파일럿 대상 업무와 성공 기준을 먼저 정합니다.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2833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2833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523961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83067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후보 업무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후보를 1~2건으로 좁힘</a:t>
            </a:r>
          </a:p>
        </p:txBody>
      </p:sp>
      <p:sp>
        <p:nvSpPr>
          <p:cNvPr id="18" name="Chevron 17"/>
          <p:cNvSpPr/>
          <p:nvPr/>
        </p:nvSpPr>
        <p:spPr>
          <a:xfrm>
            <a:off x="3111931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67963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7877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877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4389005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8111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7691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입력·출력 정리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5979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자료와 결과물 정의</a:t>
            </a:r>
          </a:p>
        </p:txBody>
      </p:sp>
      <p:sp>
        <p:nvSpPr>
          <p:cNvPr id="26" name="Chevron 25"/>
          <p:cNvSpPr/>
          <p:nvPr/>
        </p:nvSpPr>
        <p:spPr>
          <a:xfrm>
            <a:off x="5976975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3007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72921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2921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0" name="Oval 29"/>
          <p:cNvSpPr/>
          <p:nvPr/>
        </p:nvSpPr>
        <p:spPr>
          <a:xfrm>
            <a:off x="7254049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13155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2735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리스크 식별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승인, 개인정보, 오류 가능성 확인</a:t>
            </a:r>
          </a:p>
        </p:txBody>
      </p:sp>
      <p:sp>
        <p:nvSpPr>
          <p:cNvPr id="34" name="Chevron 33"/>
          <p:cNvSpPr/>
          <p:nvPr/>
        </p:nvSpPr>
        <p:spPr>
          <a:xfrm>
            <a:off x="8842019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98051" y="1993392"/>
            <a:ext cx="2590723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37965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37965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8" name="Oval 37"/>
          <p:cNvSpPr/>
          <p:nvPr/>
        </p:nvSpPr>
        <p:spPr>
          <a:xfrm>
            <a:off x="10119093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78198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7779" y="3291840"/>
            <a:ext cx="237126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성공 기준 설정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067" y="3694176"/>
            <a:ext cx="2334691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품질·시간·검토 기준 설정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Day 1 결과: </a:t>
            </a:r>
            <a:r>
              <a:rPr sz="13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대상 업무 시나리오 초안 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2 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 구체화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초안을 실제 운영 가능한 Skill 구조로 다듬습니다.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3557930" cy="1737360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" y="2578608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065" y="2743017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2157984"/>
            <a:ext cx="2597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560320"/>
            <a:ext cx="25978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목표 달성을 위한 Skill의 명확한 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6882" y="1993392"/>
            <a:ext cx="3557930" cy="1737360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90618" y="2578608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55027" y="2743017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8130" y="2157984"/>
            <a:ext cx="2597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8130" y="2560320"/>
            <a:ext cx="25978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시나리오, 핵심 데이터, 관련 지침 및 자료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0844" y="1993392"/>
            <a:ext cx="3557930" cy="1737360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4580" y="2578608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68989" y="2743017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2092" y="2157984"/>
            <a:ext cx="2597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절차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2092" y="2560320"/>
            <a:ext cx="25978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단계별 수행 절차와 판단 기준 정의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86783"/>
            <a:ext cx="3557930" cy="1737360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6656" y="4572000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065" y="4736409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4168" y="4151375"/>
            <a:ext cx="2597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출력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553712"/>
            <a:ext cx="25978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운영에 사용 가능한 결과물 및 산출물 정의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6882" y="3986783"/>
            <a:ext cx="3557930" cy="1737360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90618" y="4572000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5027" y="4736409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8130" y="4151375"/>
            <a:ext cx="2597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금지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8130" y="4553712"/>
            <a:ext cx="25978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수행 시 금지사항 및 주의해야 할 행동 정의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0844" y="3986783"/>
            <a:ext cx="3557930" cy="1737360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4580" y="4572000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68989" y="4736409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2092" y="4151375"/>
            <a:ext cx="2597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검토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2092" y="4553712"/>
            <a:ext cx="25978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정확성, 일관성, 완결성 등 검토 및 승인 기준 정의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815584"/>
            <a:ext cx="2796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초안</a:t>
            </a:r>
          </a:p>
        </p:txBody>
      </p:sp>
      <p:sp>
        <p:nvSpPr>
          <p:cNvPr id="44" name="Chevron 43"/>
          <p:cNvSpPr/>
          <p:nvPr/>
        </p:nvSpPr>
        <p:spPr>
          <a:xfrm>
            <a:off x="6004407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05575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43903" y="5815584"/>
            <a:ext cx="2796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운영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 설계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정상 흐름, 예외 흐름, 승인 지점을 명확히 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39112"/>
            <a:ext cx="2017715" cy="18288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6329" y="2212848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6329" y="2212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260317" y="2610612"/>
            <a:ext cx="502920" cy="50292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06164" y="2756458"/>
            <a:ext cx="211226" cy="21122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191256"/>
            <a:ext cx="1871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입력 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18348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필요 데이터 및 요구사항 수집</a:t>
            </a:r>
          </a:p>
        </p:txBody>
      </p:sp>
      <p:sp>
        <p:nvSpPr>
          <p:cNvPr id="18" name="Chevron 17"/>
          <p:cNvSpPr/>
          <p:nvPr/>
        </p:nvSpPr>
        <p:spPr>
          <a:xfrm>
            <a:off x="2557211" y="2852928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94955" y="2039112"/>
            <a:ext cx="2017715" cy="18288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364" y="2212848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364" y="2212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3552352" y="2610612"/>
            <a:ext cx="502920" cy="50292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8199" y="2756458"/>
            <a:ext cx="211226" cy="21122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8107" y="3191256"/>
            <a:ext cx="1871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AI 초안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6395" y="3483864"/>
            <a:ext cx="18348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AI 기반 초안 작성 및 자동 생성</a:t>
            </a:r>
          </a:p>
        </p:txBody>
      </p:sp>
      <p:sp>
        <p:nvSpPr>
          <p:cNvPr id="26" name="Chevron 25"/>
          <p:cNvSpPr/>
          <p:nvPr/>
        </p:nvSpPr>
        <p:spPr>
          <a:xfrm>
            <a:off x="4849246" y="2852928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86990" y="2039112"/>
            <a:ext cx="2017715" cy="18288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0399" y="2212848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0399" y="2212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0" name="Oval 29"/>
          <p:cNvSpPr/>
          <p:nvPr/>
        </p:nvSpPr>
        <p:spPr>
          <a:xfrm>
            <a:off x="5844387" y="2610612"/>
            <a:ext cx="502920" cy="50292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90234" y="2756458"/>
            <a:ext cx="211226" cy="21122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0142" y="3191256"/>
            <a:ext cx="1871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담당자 검토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8430" y="3483864"/>
            <a:ext cx="18348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내용 검토 및 피드백 수집</a:t>
            </a:r>
          </a:p>
        </p:txBody>
      </p:sp>
      <p:sp>
        <p:nvSpPr>
          <p:cNvPr id="34" name="Chevron 33"/>
          <p:cNvSpPr/>
          <p:nvPr/>
        </p:nvSpPr>
        <p:spPr>
          <a:xfrm>
            <a:off x="7141281" y="2852928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79025" y="2039112"/>
            <a:ext cx="2017715" cy="18288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32434" y="2212848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2434" y="2212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8" name="Oval 37"/>
          <p:cNvSpPr/>
          <p:nvPr/>
        </p:nvSpPr>
        <p:spPr>
          <a:xfrm>
            <a:off x="8136422" y="2610612"/>
            <a:ext cx="502920" cy="50292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82269" y="2756458"/>
            <a:ext cx="211226" cy="21122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177" y="3191256"/>
            <a:ext cx="1871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승인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465" y="3483864"/>
            <a:ext cx="18348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최종 승인 및 승인 이력 기록</a:t>
            </a:r>
          </a:p>
        </p:txBody>
      </p:sp>
      <p:sp>
        <p:nvSpPr>
          <p:cNvPr id="42" name="Chevron 41"/>
          <p:cNvSpPr/>
          <p:nvPr/>
        </p:nvSpPr>
        <p:spPr>
          <a:xfrm>
            <a:off x="9433316" y="2852928"/>
            <a:ext cx="201168" cy="201168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71060" y="2039112"/>
            <a:ext cx="2017715" cy="1828800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24469" y="2212848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24469" y="2212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6" name="Oval 45"/>
          <p:cNvSpPr/>
          <p:nvPr/>
        </p:nvSpPr>
        <p:spPr>
          <a:xfrm>
            <a:off x="10428457" y="2610612"/>
            <a:ext cx="502920" cy="50292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74304" y="2756458"/>
            <a:ext cx="211226" cy="21122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44212" y="3191256"/>
            <a:ext cx="1871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배포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2500" y="3483864"/>
            <a:ext cx="18348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최종 산출물 배포 및 공유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4955" y="4187952"/>
            <a:ext cx="660178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D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023555" y="4462272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23555" y="446227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예외 흐름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6595" y="4334256"/>
            <a:ext cx="349282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수정 / 재실행</a:t>
            </a:r>
          </a:p>
          <a:p>
            <a:pPr algn="l"/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기준 미달·이슈 발생 시 피드백 반영 및 재실행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Verification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결과를 신뢰하기 위한 확인 기준을 만듭니다.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084832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1945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승인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56032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최종 승인 및 배포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084832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신뢰 가능한 결과만 승인 및 활용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39" y="311810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1E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2278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샘플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9" y="359359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대표 샘플 검토 및 품질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18104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실제 결과를 검토하여 품질과 정확도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" y="4151376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26110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형식·금지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4626864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형식, 규칙, 금지 항목 등 기본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151376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사전에 정한 기준으로 기본 검증 수행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2357323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348179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084832"/>
            <a:ext cx="3276295" cy="8375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입력 확인 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입력 데이터의 정확성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7955279" y="3194913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185769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922422"/>
            <a:ext cx="3276295" cy="8375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출력 형식 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출력 형식 및 규칙 일치 확인</a:t>
            </a:r>
          </a:p>
        </p:txBody>
      </p:sp>
      <p:sp>
        <p:nvSpPr>
          <p:cNvPr id="29" name="Oval 28"/>
          <p:cNvSpPr/>
          <p:nvPr/>
        </p:nvSpPr>
        <p:spPr>
          <a:xfrm>
            <a:off x="7955279" y="403250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0233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760012"/>
            <a:ext cx="3276295" cy="8375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오류 점검 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누락, 오타, 이상값 등 점검</a:t>
            </a:r>
          </a:p>
        </p:txBody>
      </p:sp>
      <p:sp>
        <p:nvSpPr>
          <p:cNvPr id="32" name="Oval 31"/>
          <p:cNvSpPr/>
          <p:nvPr/>
        </p:nvSpPr>
        <p:spPr>
          <a:xfrm>
            <a:off x="7955279" y="487009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86095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597603"/>
            <a:ext cx="3276295" cy="8375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승인 기준 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승인 조건 및 임계 기준 확인</a:t>
            </a:r>
          </a:p>
        </p:txBody>
      </p:sp>
      <p:sp>
        <p:nvSpPr>
          <p:cNvPr id="35" name="Oval 34"/>
          <p:cNvSpPr/>
          <p:nvPr/>
        </p:nvSpPr>
        <p:spPr>
          <a:xfrm>
            <a:off x="7955279" y="570768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56985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435193"/>
            <a:ext cx="3276295" cy="8375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기록 보관 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결과 및 변경 이력 기록 보관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범위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작은 범위에서 시작해야 검증과 개선이 가능합니다.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2604439" cy="3639312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" y="3529584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065" y="3693993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2157984"/>
            <a:ext cx="164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대상 업무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560320"/>
            <a:ext cx="1644319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가치가 높고, 반복적인 업무 중심 선정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3391" y="1993392"/>
            <a:ext cx="2604439" cy="3639312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7127" y="3529584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1536" y="3693993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4639" y="2157984"/>
            <a:ext cx="164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사용자·역할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4639" y="2560320"/>
            <a:ext cx="1644319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실제 업무를 수행하는 소수 핵심 사용자로 제한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863" y="1993392"/>
            <a:ext cx="2604439" cy="3639312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7599" y="3529584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62008" y="3693993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5111" y="2157984"/>
            <a:ext cx="164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데이터 범위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5111" y="2560320"/>
            <a:ext cx="1644319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필요 최소 데이터로 파일럿 범위 제한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335" y="1993392"/>
            <a:ext cx="2604439" cy="3639312"/>
          </a:xfrm>
          <a:prstGeom prst="roundRect">
            <a:avLst>
              <a:gd name="adj" fmla="val 7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58071" y="3529584"/>
            <a:ext cx="566928" cy="566928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22480" y="3693993"/>
            <a:ext cx="238109" cy="238109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5583" y="2157984"/>
            <a:ext cx="164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성공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5583" y="2560320"/>
            <a:ext cx="1644319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정량·정성 지표를 설정하여 효과를 명확히 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작게 시작</a:t>
            </a:r>
          </a:p>
        </p:txBody>
      </p:sp>
      <p:sp>
        <p:nvSpPr>
          <p:cNvPr id="34" name="Chevron 33"/>
          <p:cNvSpPr/>
          <p:nvPr/>
        </p:nvSpPr>
        <p:spPr>
          <a:xfrm>
            <a:off x="4140098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41266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9594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37" name="Chevron 36"/>
          <p:cNvSpPr/>
          <p:nvPr/>
        </p:nvSpPr>
        <p:spPr>
          <a:xfrm>
            <a:off x="7868716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69884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8212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설계 패키지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업무, Skill, Workflow, 검증, 운영 기준을 하나의 패키지로 묶습니다.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847" y="3355848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2847" y="3355848"/>
            <a:ext cx="228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파일럿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패키지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39112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231136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0956" y="2363724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2148840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45973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대상 업무 및 목표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08960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3300984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0956" y="3433572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321868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2958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승인·검토 흐름 및 처리 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5575" y="2039112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01023" y="2231136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3611" y="2363724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8807" y="2148840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8807" y="245973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재사용 가능한 업무 지식 정의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45575" y="3108960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1023" y="3300984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3611" y="3433572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8807" y="321868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8807" y="352958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기준 및 처리 설계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24247" y="4928616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79695" y="5120640"/>
            <a:ext cx="457200" cy="45720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2283" y="5253228"/>
            <a:ext cx="192024" cy="192024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7479" y="5038344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기준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7479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규칙, 권한, 모니터링 기준 정의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아이디어 후보</a:t>
            </a:r>
          </a:p>
        </p:txBody>
      </p:sp>
      <p:sp>
        <p:nvSpPr>
          <p:cNvPr id="41" name="Chevron 40"/>
          <p:cNvSpPr/>
          <p:nvPr/>
        </p:nvSpPr>
        <p:spPr>
          <a:xfrm>
            <a:off x="4140098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41266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9594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설계 패키지</a:t>
            </a:r>
          </a:p>
        </p:txBody>
      </p:sp>
      <p:sp>
        <p:nvSpPr>
          <p:cNvPr id="44" name="Chevron 43"/>
          <p:cNvSpPr/>
          <p:nvPr/>
        </p:nvSpPr>
        <p:spPr>
          <a:xfrm>
            <a:off x="7868716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69884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8212" y="5815584"/>
            <a:ext cx="186430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파일럿 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Day 3: </a:t>
            </a:r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통합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각 산출물을 하나의 실행 흐름으로 연결한다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1635709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5326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326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046454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05560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91840"/>
            <a:ext cx="141625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 시나리오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94176"/>
            <a:ext cx="1379677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업무 흐름 정의</a:t>
            </a:r>
          </a:p>
        </p:txBody>
      </p:sp>
      <p:sp>
        <p:nvSpPr>
          <p:cNvPr id="18" name="Chevron 17"/>
          <p:cNvSpPr/>
          <p:nvPr/>
        </p:nvSpPr>
        <p:spPr>
          <a:xfrm>
            <a:off x="2156917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12949" y="1993392"/>
            <a:ext cx="1635709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75355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5355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2956483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15589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22677" y="3291840"/>
            <a:ext cx="141625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0965" y="3694176"/>
            <a:ext cx="1379677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필요 스킬 정의</a:t>
            </a:r>
          </a:p>
        </p:txBody>
      </p:sp>
      <p:sp>
        <p:nvSpPr>
          <p:cNvPr id="26" name="Chevron 25"/>
          <p:cNvSpPr/>
          <p:nvPr/>
        </p:nvSpPr>
        <p:spPr>
          <a:xfrm>
            <a:off x="4066946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2978" y="1993392"/>
            <a:ext cx="1635709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85384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5384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0" name="Oval 29"/>
          <p:cNvSpPr/>
          <p:nvPr/>
        </p:nvSpPr>
        <p:spPr>
          <a:xfrm>
            <a:off x="4866512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5618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2706" y="3291840"/>
            <a:ext cx="141625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0994" y="3694176"/>
            <a:ext cx="1379677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작업 흐름 설계</a:t>
            </a:r>
          </a:p>
        </p:txBody>
      </p:sp>
      <p:sp>
        <p:nvSpPr>
          <p:cNvPr id="34" name="Chevron 33"/>
          <p:cNvSpPr/>
          <p:nvPr/>
        </p:nvSpPr>
        <p:spPr>
          <a:xfrm>
            <a:off x="5976975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3007" y="1993392"/>
            <a:ext cx="1635709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95414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5414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8" name="Oval 37"/>
          <p:cNvSpPr/>
          <p:nvPr/>
        </p:nvSpPr>
        <p:spPr>
          <a:xfrm>
            <a:off x="6776542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935647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2735" y="3291840"/>
            <a:ext cx="141625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3694176"/>
            <a:ext cx="1379677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기준 및 절차 정의</a:t>
            </a:r>
          </a:p>
        </p:txBody>
      </p:sp>
      <p:sp>
        <p:nvSpPr>
          <p:cNvPr id="42" name="Chevron 41"/>
          <p:cNvSpPr/>
          <p:nvPr/>
        </p:nvSpPr>
        <p:spPr>
          <a:xfrm>
            <a:off x="7887004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43036" y="1993392"/>
            <a:ext cx="1635709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05443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05443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6" name="Oval 45"/>
          <p:cNvSpPr/>
          <p:nvPr/>
        </p:nvSpPr>
        <p:spPr>
          <a:xfrm>
            <a:off x="8686571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45677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52764" y="3291840"/>
            <a:ext cx="141625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기준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1052" y="3694176"/>
            <a:ext cx="1379677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규칙 및 권한 설정</a:t>
            </a:r>
          </a:p>
        </p:txBody>
      </p:sp>
      <p:sp>
        <p:nvSpPr>
          <p:cNvPr id="50" name="Chevron 49"/>
          <p:cNvSpPr/>
          <p:nvPr/>
        </p:nvSpPr>
        <p:spPr>
          <a:xfrm>
            <a:off x="9797033" y="369417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053066" y="1993392"/>
            <a:ext cx="1635709" cy="363931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15472" y="222199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15472" y="22219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4" name="Oval 53"/>
          <p:cNvSpPr/>
          <p:nvPr/>
        </p:nvSpPr>
        <p:spPr>
          <a:xfrm>
            <a:off x="10596600" y="265176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55706" y="281086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62794" y="3291840"/>
            <a:ext cx="141625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실행 준비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1082" y="3694176"/>
            <a:ext cx="1379677" cy="1856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실행 계획 및 준비 완료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문서와 실행 구조가 연결되어 </a:t>
            </a:r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신뢰할 수 있는 파일럿</a:t>
            </a:r>
            <a:r>
              <a:rPr sz="1350" b="0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을 만든다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최종 산출물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문서와 실행 구조가 연결되어야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2929628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27467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체크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2548" y="1993392"/>
            <a:ext cx="6924577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3988" y="1993392"/>
            <a:ext cx="674169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내용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57125" y="1993392"/>
            <a:ext cx="1331649" cy="457200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8565" y="1993392"/>
            <a:ext cx="114876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50592"/>
            <a:ext cx="2929628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450592"/>
            <a:ext cx="2728460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업무 시나리오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2548" y="2450592"/>
            <a:ext cx="6924577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2276" y="2450592"/>
            <a:ext cx="6723409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목적, 대상, 흐름, 예외 상황이 문서화되어 있는가?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57125" y="2450592"/>
            <a:ext cx="1331649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13222" y="2662732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13222" y="265358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94329"/>
            <a:ext cx="2929628" cy="643737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094329"/>
            <a:ext cx="2728460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32548" y="3094329"/>
            <a:ext cx="6924577" cy="643737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2276" y="3094329"/>
            <a:ext cx="6723409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Skill이 정의되고 입력/출력 및 검증 기준이 명확한가?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57125" y="3094329"/>
            <a:ext cx="1331649" cy="643737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3222" y="3306470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3222" y="329732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38067"/>
            <a:ext cx="2929628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738067"/>
            <a:ext cx="2728460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32548" y="3738067"/>
            <a:ext cx="6924577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2276" y="3738067"/>
            <a:ext cx="6723409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흐름과 Task 간 연결 관계가 논리적으로 구성되었는가?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57125" y="3738067"/>
            <a:ext cx="1331649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13222" y="3950208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13222" y="394106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381804"/>
            <a:ext cx="2929628" cy="643737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381804"/>
            <a:ext cx="2728460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Verification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32548" y="4381804"/>
            <a:ext cx="6924577" cy="643737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2276" y="4381804"/>
            <a:ext cx="6723409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항목과 기준이 정의되고 검증 절차가 설계되었는가?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57125" y="4381804"/>
            <a:ext cx="1331649" cy="643737"/>
          </a:xfrm>
          <a:prstGeom prst="rect">
            <a:avLst/>
          </a:prstGeom>
          <a:solidFill>
            <a:srgbClr val="F3F7FD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3222" y="4593945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13222" y="4584801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025542"/>
            <a:ext cx="2929628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5025542"/>
            <a:ext cx="2728460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운영 기준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32548" y="5025542"/>
            <a:ext cx="6924577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42276" y="5025542"/>
            <a:ext cx="6723409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운영 규칙, 권한, 예외 처리 및 기록 보관 기준이 정의되었는가?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57125" y="5025542"/>
            <a:ext cx="1331649" cy="643737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13222" y="5237683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13222" y="5228539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모든 항목이 연결되어 </a:t>
            </a:r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파일럿 실행을 검토할 수 있는 상태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발표 및 피드백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파일럿 목적, 구조, 검증 기준, 다음 단계를 설명한다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91056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591056"/>
            <a:ext cx="3931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파일럿을 간결하고 구조적으로 전달한다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84831"/>
            <a:ext cx="2563291" cy="3584448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29117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9117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6" name="Oval 15"/>
          <p:cNvSpPr/>
          <p:nvPr/>
        </p:nvSpPr>
        <p:spPr>
          <a:xfrm>
            <a:off x="1510245" y="274320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69351" y="290230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83279"/>
            <a:ext cx="234383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1. 파일럿 목적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3877056"/>
            <a:ext cx="2197531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목표 및 기대 효과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해결하고자 하는 과제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이해관계자 및 범위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7107" y="2084831"/>
            <a:ext cx="2563291" cy="3584448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03305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3305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3" name="Oval 22"/>
          <p:cNvSpPr/>
          <p:nvPr/>
        </p:nvSpPr>
        <p:spPr>
          <a:xfrm>
            <a:off x="4384433" y="274320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43539" y="290230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6835" y="3383279"/>
            <a:ext cx="234383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2. 파일럿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6563" y="3877056"/>
            <a:ext cx="2197531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주요 구성 요소 및 흐름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업무 및 역할 분담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기간 및 주요 마일스톤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1295" y="2084831"/>
            <a:ext cx="2563291" cy="3584448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77493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7493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0" name="Oval 29"/>
          <p:cNvSpPr/>
          <p:nvPr/>
        </p:nvSpPr>
        <p:spPr>
          <a:xfrm>
            <a:off x="7258621" y="274320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17727" y="290230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1023" y="3383279"/>
            <a:ext cx="234383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3. 검증 기준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0751" y="3877056"/>
            <a:ext cx="2197531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정량/정성 검증 항목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성과 및 품질 기준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검증 방법 및 데이터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25483" y="2084831"/>
            <a:ext cx="2563291" cy="3584448"/>
          </a:xfrm>
          <a:prstGeom prst="roundRect">
            <a:avLst>
              <a:gd name="adj" fmla="val 5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51681" y="231343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1681" y="2313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7" name="Oval 36"/>
          <p:cNvSpPr/>
          <p:nvPr/>
        </p:nvSpPr>
        <p:spPr>
          <a:xfrm>
            <a:off x="10132809" y="2743200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91914" y="2902305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211" y="3383279"/>
            <a:ext cx="234383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4. 다음 단계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4939" y="3877056"/>
            <a:ext cx="2197531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확장 또는 개선 방향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후속 과제 및 일정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2D6BE0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의사결정 및 요청 사항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815584"/>
            <a:ext cx="11185855" cy="47548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2648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발표 TIP</a:t>
            </a:r>
          </a:p>
        </p:txBody>
      </p:sp>
      <p:sp>
        <p:nvSpPr>
          <p:cNvPr id="44" name="Chevron 43"/>
          <p:cNvSpPr/>
          <p:nvPr/>
        </p:nvSpPr>
        <p:spPr>
          <a:xfrm>
            <a:off x="2648651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49819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88147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3분 내 핵심 설명</a:t>
            </a:r>
          </a:p>
        </p:txBody>
      </p:sp>
      <p:sp>
        <p:nvSpPr>
          <p:cNvPr id="47" name="Chevron 46"/>
          <p:cNvSpPr/>
          <p:nvPr/>
        </p:nvSpPr>
        <p:spPr>
          <a:xfrm>
            <a:off x="4885822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086990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25318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명확하게</a:t>
            </a:r>
          </a:p>
        </p:txBody>
      </p:sp>
      <p:sp>
        <p:nvSpPr>
          <p:cNvPr id="50" name="Chevron 49"/>
          <p:cNvSpPr/>
          <p:nvPr/>
        </p:nvSpPr>
        <p:spPr>
          <a:xfrm>
            <a:off x="7122993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24161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2489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간결하게</a:t>
            </a:r>
          </a:p>
        </p:txBody>
      </p:sp>
      <p:sp>
        <p:nvSpPr>
          <p:cNvPr id="53" name="Chevron 52"/>
          <p:cNvSpPr/>
          <p:nvPr/>
        </p:nvSpPr>
        <p:spPr>
          <a:xfrm>
            <a:off x="9360164" y="5961888"/>
            <a:ext cx="182880" cy="182880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561332" y="5907024"/>
            <a:ext cx="292608" cy="29260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99660" y="5815584"/>
            <a:ext cx="111858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다음 액션 중심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교육 후 도입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교육 결과는 제한 실행, 검증, 표준화로 이어진다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50592"/>
            <a:ext cx="1234440" cy="2816352"/>
          </a:xfrm>
          <a:prstGeom prst="roundRect">
            <a:avLst>
              <a:gd name="adj" fmla="val 12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50592"/>
            <a:ext cx="1234440" cy="2816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교육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084832"/>
            <a:ext cx="2163241" cy="354787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29292" y="2295144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9292" y="22951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6" name="Oval 15"/>
          <p:cNvSpPr/>
          <p:nvPr/>
        </p:nvSpPr>
        <p:spPr>
          <a:xfrm>
            <a:off x="2910420" y="2724912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69526" y="2884017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364992"/>
            <a:ext cx="198036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1. 제한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3767328"/>
            <a:ext cx="1907209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핵심 영역에서 소규모 파일럿 실행</a:t>
            </a:r>
          </a:p>
        </p:txBody>
      </p:sp>
      <p:sp>
        <p:nvSpPr>
          <p:cNvPr id="20" name="Chevron 19"/>
          <p:cNvSpPr/>
          <p:nvPr/>
        </p:nvSpPr>
        <p:spPr>
          <a:xfrm>
            <a:off x="4302937" y="373989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7257" y="2084832"/>
            <a:ext cx="2163241" cy="354787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03430" y="2295144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3430" y="22951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4" name="Oval 23"/>
          <p:cNvSpPr/>
          <p:nvPr/>
        </p:nvSpPr>
        <p:spPr>
          <a:xfrm>
            <a:off x="5384558" y="2724912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43664" y="2884017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8697" y="3364992"/>
            <a:ext cx="198036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2. 검증 및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273" y="3767328"/>
            <a:ext cx="1907209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성과 및 피드백 기반 검증 및 개선</a:t>
            </a:r>
          </a:p>
        </p:txBody>
      </p:sp>
      <p:sp>
        <p:nvSpPr>
          <p:cNvPr id="28" name="Chevron 27"/>
          <p:cNvSpPr/>
          <p:nvPr/>
        </p:nvSpPr>
        <p:spPr>
          <a:xfrm>
            <a:off x="6777075" y="373989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1395" y="2084832"/>
            <a:ext cx="2163241" cy="354787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77568" y="2295144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7568" y="22951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2" name="Oval 31"/>
          <p:cNvSpPr/>
          <p:nvPr/>
        </p:nvSpPr>
        <p:spPr>
          <a:xfrm>
            <a:off x="7858696" y="2724912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17802" y="2884017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2835" y="3364992"/>
            <a:ext cx="198036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3. 표준화 준비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9411" y="3767328"/>
            <a:ext cx="1907209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프로세스와 템플릿 정의 및 표준화 준비</a:t>
            </a:r>
          </a:p>
        </p:txBody>
      </p:sp>
      <p:sp>
        <p:nvSpPr>
          <p:cNvPr id="36" name="Chevron 35"/>
          <p:cNvSpPr/>
          <p:nvPr/>
        </p:nvSpPr>
        <p:spPr>
          <a:xfrm>
            <a:off x="9251213" y="3739896"/>
            <a:ext cx="237744" cy="237744"/>
          </a:xfrm>
          <a:prstGeom prst="chevron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25533" y="2084832"/>
            <a:ext cx="2163241" cy="3547872"/>
          </a:xfrm>
          <a:prstGeom prst="roundRect">
            <a:avLst>
              <a:gd name="adj" fmla="val 6000"/>
            </a:avLst>
          </a:prstGeom>
          <a:solidFill>
            <a:srgbClr val="F3F7FD"/>
          </a:solidFill>
          <a:ln w="1270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51706" y="2295144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51706" y="22951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0" name="Oval 39"/>
          <p:cNvSpPr/>
          <p:nvPr/>
        </p:nvSpPr>
        <p:spPr>
          <a:xfrm>
            <a:off x="10332834" y="2724912"/>
            <a:ext cx="548640" cy="548640"/>
          </a:xfrm>
          <a:prstGeom prst="ellipse">
            <a:avLst/>
          </a:prstGeom>
          <a:solidFill>
            <a:srgbClr val="E6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91939" y="2884017"/>
            <a:ext cx="230428" cy="230428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16973" y="3364992"/>
            <a:ext cx="198036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4. 확산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3549" y="3767328"/>
            <a:ext cx="1907209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표준 기반으로 전사 확대 적용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작게 시작하고, 검증하고, 표준화하여 확산한다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522" y="274320"/>
            <a:ext cx="1802253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11185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마무리 /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858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374"/>
                </a:solidFill>
                <a:latin typeface="Apple SD Gothic Neo"/>
                <a:ea typeface="Apple SD Gothic Neo"/>
                <a:cs typeface="Apple SD Gothic Neo"/>
              </a:rPr>
              <a:t>3일 과정의 결과는 파일럿 실행의 출발점이다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37376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2026.00.00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75" y="6437376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한국디지털문서플랫폼협회      AI 교육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39112"/>
            <a:ext cx="5120640" cy="3593592"/>
          </a:xfrm>
          <a:prstGeom prst="roundRect">
            <a:avLst>
              <a:gd name="adj" fmla="val 6000"/>
            </a:avLst>
          </a:prstGeom>
          <a:solidFill>
            <a:srgbClr val="16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97479" y="2450592"/>
            <a:ext cx="731520" cy="731520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244144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64991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3일 과정 완료!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05072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파일럿 설계 패키지가 완성되었습니다.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정렬 → 설계 → 통합까지 완료하여</a:t>
            </a:r>
          </a:p>
          <a:p>
            <a:pPr algn="ctr"/>
            <a:r>
              <a:rPr sz="1200" b="0">
                <a:solidFill>
                  <a:srgbClr val="C9D3E6"/>
                </a:solidFill>
                <a:latin typeface="Apple SD Gothic Neo"/>
                <a:ea typeface="Apple SD Gothic Neo"/>
                <a:cs typeface="Apple SD Gothic Neo"/>
              </a:rPr>
              <a:t>파일럿 실행을 위한 준비가 끝났습니다.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039112"/>
            <a:ext cx="56080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다음 단계</a:t>
            </a:r>
          </a:p>
        </p:txBody>
      </p:sp>
      <p:sp>
        <p:nvSpPr>
          <p:cNvPr id="17" name="Oval 16"/>
          <p:cNvSpPr/>
          <p:nvPr/>
        </p:nvSpPr>
        <p:spPr>
          <a:xfrm>
            <a:off x="6080759" y="2606040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59" y="26060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587752"/>
            <a:ext cx="5150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파일럿 실행 계획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880360"/>
            <a:ext cx="5150815" cy="46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범위, 일정, 자원, KPI 등 실행 계획을 확정합니다.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080759" y="3362706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336270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344418"/>
            <a:ext cx="5150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이해관계자 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637026"/>
            <a:ext cx="5150815" cy="46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주요 이해관계자의 승인과 지원을 확보합니다.</a:t>
            </a:r>
          </a:p>
        </p:txBody>
      </p:sp>
      <p:sp>
        <p:nvSpPr>
          <p:cNvPr id="25" name="Oval 24"/>
          <p:cNvSpPr/>
          <p:nvPr/>
        </p:nvSpPr>
        <p:spPr>
          <a:xfrm>
            <a:off x="6080759" y="4119372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41193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101084"/>
            <a:ext cx="5150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제한 실행 및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393692"/>
            <a:ext cx="5150815" cy="46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파일럿을 제한 범위에서 실행하고 결과를 검증합니다.</a:t>
            </a:r>
          </a:p>
        </p:txBody>
      </p:sp>
      <p:sp>
        <p:nvSpPr>
          <p:cNvPr id="29" name="Oval 28"/>
          <p:cNvSpPr/>
          <p:nvPr/>
        </p:nvSpPr>
        <p:spPr>
          <a:xfrm>
            <a:off x="6080759" y="4876038"/>
            <a:ext cx="310896" cy="310896"/>
          </a:xfrm>
          <a:prstGeom prst="ellipse">
            <a:avLst/>
          </a:prstGeom>
          <a:solidFill>
            <a:srgbClr val="2D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59" y="487603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4857750"/>
            <a:ext cx="5150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개선 및 확장 준비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5150357"/>
            <a:ext cx="5150815" cy="46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44C5A"/>
                </a:solidFill>
                <a:latin typeface="Apple SD Gothic Neo"/>
                <a:ea typeface="Apple SD Gothic Neo"/>
                <a:cs typeface="Apple SD Gothic Neo"/>
              </a:rPr>
              <a:t>개선사항을 반영하고 확장 로드맵을 준비합니다.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815584"/>
            <a:ext cx="11185855" cy="457200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 w="12700">
            <a:solidFill>
              <a:srgbClr val="C6D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15584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1A2540"/>
                </a:solidFill>
                <a:latin typeface="Apple SD Gothic Neo"/>
                <a:ea typeface="Apple SD Gothic Neo"/>
                <a:cs typeface="Apple SD Gothic Neo"/>
              </a:rPr>
              <a:t>질문과 의견을 나눠주세요    </a:t>
            </a:r>
            <a:r>
              <a:rPr sz="1350" b="1">
                <a:solidFill>
                  <a:srgbClr val="1E4FB0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