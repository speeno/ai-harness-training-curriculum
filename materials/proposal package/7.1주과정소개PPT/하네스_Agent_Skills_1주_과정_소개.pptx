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60320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1주 과정은 파일럿을 넘어 </a:t>
            </a:r>
            <a:r>
              <a:rPr sz="1300" b="1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조직 운영 모델</a:t>
            </a:r>
            <a:r>
              <a:rPr sz="13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을 만드는 과정이다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80"/>
            <a:ext cx="3794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1주 안에 표준화된 업무 흐름을 설계하고,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지속 가능한 조직 운영 모델을 완성합니다.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4050" y="960120"/>
            <a:ext cx="4792754" cy="713232"/>
          </a:xfrm>
          <a:prstGeom prst="roundRect">
            <a:avLst>
              <a:gd name="adj" fmla="val 10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930" y="960120"/>
            <a:ext cx="442699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운영 모델 확립</a:t>
            </a:r>
          </a:p>
          <a:p>
            <a:pPr algn="ctr"/>
            <a:r>
              <a:rPr sz="9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표준화 · 거버넌스 · 성과 관리 체계 수립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681" y="1783080"/>
            <a:ext cx="5699491" cy="713232"/>
          </a:xfrm>
          <a:prstGeom prst="roundRect">
            <a:avLst>
              <a:gd name="adj" fmla="val 1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3561" y="1783080"/>
            <a:ext cx="533373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 표준화 및 확산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검증된 프로세스를 조직 전반으로 확산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697480"/>
            <a:ext cx="1495729" cy="141732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49632" y="2852928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71613" y="2974908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3300984"/>
            <a:ext cx="138600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현황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593592"/>
            <a:ext cx="13128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업무·시스템·데이터 현황을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2401" y="2697480"/>
            <a:ext cx="1495729" cy="141732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9954" y="2852928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1935" y="2974908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7265" y="3300984"/>
            <a:ext cx="138600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프로세스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841" y="3593592"/>
            <a:ext cx="13128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업무 흐름과 역할을 정의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2723" y="2697480"/>
            <a:ext cx="1495729" cy="141732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70276" y="2852928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92257" y="2974908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7587" y="3300984"/>
            <a:ext cx="138600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및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4163" y="3593592"/>
            <a:ext cx="13128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파일럿으로 실행 가능성을 검증·개선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3045" y="2697480"/>
            <a:ext cx="1495729" cy="141732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30598" y="2852928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52579" y="2974908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7909" y="3300984"/>
            <a:ext cx="138600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탑재 및 운영 준비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4485" y="3593592"/>
            <a:ext cx="13128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체계·가이드로 안정적 도입 준비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343400"/>
            <a:ext cx="6476695" cy="54864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343400"/>
            <a:ext cx="6110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1주 만에 실행 가능한 운영 모델 설계 및 표준화 완성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1일 · 3일 · 1주 과정의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1주는 표준화, 거버넌스, 확산 체계까지 다룬다.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545738" cy="4279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993392"/>
            <a:ext cx="3545738" cy="457200"/>
          </a:xfrm>
          <a:prstGeom prst="round2Same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93392"/>
            <a:ext cx="35457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 과정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2642616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24912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개념 이해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017520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개념 정리 및 업무 적용 포인트 파악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825240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907536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초안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4200144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시나리오 기반 초안 작성 실습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5007864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090160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후보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382768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AI 적용 가능 업무 후보 목록 정리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1993392"/>
            <a:ext cx="3545738" cy="4279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4322978" y="1993392"/>
            <a:ext cx="3545738" cy="457200"/>
          </a:xfrm>
          <a:prstGeom prst="round2Same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2978" y="1993392"/>
            <a:ext cx="35457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7570" y="2642616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3874" y="2724912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3874" y="3017520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시나리오 기반 파일럿 설계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7570" y="3825240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3874" y="3907536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· Workflow 구체화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3874" y="4200144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Skill 정의 및 Workflow 상세화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7570" y="5007864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3874" y="5090160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기준 정리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3874" y="5382768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 지표 및 검증 기준 정의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3036" y="1993392"/>
            <a:ext cx="3545738" cy="4279392"/>
          </a:xfrm>
          <a:prstGeom prst="roundRect">
            <a:avLst>
              <a:gd name="adj" fmla="val 4000"/>
            </a:avLst>
          </a:prstGeom>
          <a:solidFill>
            <a:srgbClr val="E9F1FE"/>
          </a:solidFill>
          <a:ln w="19050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8143036" y="1993392"/>
            <a:ext cx="3545738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3036" y="1993392"/>
            <a:ext cx="35457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</a:t>
            </a:r>
            <a:r>
              <a:rPr sz="1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7628" y="2642616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3932" y="2724912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조직 표준화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3932" y="3017520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AI 활용 표준 모델 및 운영 기준 수립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7628" y="3825240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3932" y="3907536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거버넌스 설계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3932" y="4200144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보안 · 검증 체계 및 역할 · 권한 설계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7628" y="5007864"/>
            <a:ext cx="3216554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3932" y="5090160"/>
            <a:ext cx="29970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확산 체계 구축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3932" y="5382768"/>
            <a:ext cx="2997098" cy="633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조직 내 확산 로드맵 및 교육 · 지원 체계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1주 과정의 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AI 자동화를 조직에 정착시키기 위한 최우선 질문을 함께 답합니다.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3" name="Oval 12"/>
          <p:cNvSpPr/>
          <p:nvPr/>
        </p:nvSpPr>
        <p:spPr>
          <a:xfrm>
            <a:off x="4952847" y="3035808"/>
            <a:ext cx="2286000" cy="2286000"/>
          </a:xfrm>
          <a:prstGeom prst="ellipse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727" y="3035808"/>
            <a:ext cx="192024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조직은 AI 자동화를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어떻게 표준화하고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운영할 것인가?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9152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542032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" y="2674620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35915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어떤 업무를 우선 표준화할 것인가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75504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358384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108" y="5490972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175504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검증과 보안 기준은 무엇인가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175" y="2359152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9775" y="2542032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2363" y="2674620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8415" y="235915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누가 승인하고 운영할 것인가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1175" y="5175504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59775" y="5358384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92363" y="5490972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8415" y="5175504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이후 어떻게 확산할 것인가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전체 5일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전략 정렬 → Skill 생명주기 → Governance → 검증 → 운영 로드맵으로 이어진다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6537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1주 과정은 조직의 AI 운영 모델을 단계별로 구축합니다.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2046975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502920" y="2212848"/>
            <a:ext cx="2046975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20469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779776"/>
            <a:ext cx="1827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전략 정렬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236976"/>
            <a:ext cx="1717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AI 도입의 목적과 성공 기준을 명확히 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858768"/>
            <a:ext cx="177265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비즈니스 목표 정의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과제 식별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 지표 설정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70448"/>
            <a:ext cx="1772655" cy="31089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70448"/>
            <a:ext cx="17726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전략과 목표 정렬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7639" y="2212848"/>
            <a:ext cx="2046975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2787639" y="2212848"/>
            <a:ext cx="2046975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7639" y="2212848"/>
            <a:ext cx="20469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7367" y="2779776"/>
            <a:ext cx="1827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생명주기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2231" y="3236976"/>
            <a:ext cx="1717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Skill의 설계부터 운영까지 전체 생명주기를 구축합니다.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3943" y="3858768"/>
            <a:ext cx="177265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Skill 설계 원칙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Skill 등록 및 관리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운영/모니터링 체계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4799" y="5870448"/>
            <a:ext cx="1772655" cy="31089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4799" y="5870448"/>
            <a:ext cx="17726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Skill 체계 구축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2359" y="2212848"/>
            <a:ext cx="2046975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5072359" y="2212848"/>
            <a:ext cx="2046975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2359" y="2212848"/>
            <a:ext cx="20469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2087" y="2779776"/>
            <a:ext cx="1827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6951" y="3236976"/>
            <a:ext cx="1717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조직 내 AI 거버넌스 체계를 수립하고 역할을 정의합니다.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8663" y="3858768"/>
            <a:ext cx="177265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거버넌스 구조 설계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역할 및 책임 정의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정책 · 기준 수립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09519" y="5870448"/>
            <a:ext cx="1772655" cy="31089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9519" y="5870448"/>
            <a:ext cx="17726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거버넌스 체계 확립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7079" y="2212848"/>
            <a:ext cx="2046975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7357079" y="2212848"/>
            <a:ext cx="2046975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57079" y="2212848"/>
            <a:ext cx="20469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807" y="2779776"/>
            <a:ext cx="1827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· 보안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1671" y="3236976"/>
            <a:ext cx="1717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품질 검증과 보안 기준으로 신뢰성과 안전성을 확보합니다.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3383" y="3858768"/>
            <a:ext cx="177265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 및 절차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보안 · 개인정보 보호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품질 보증 체계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4239" y="5870448"/>
            <a:ext cx="1772655" cy="31089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4239" y="5870448"/>
            <a:ext cx="17726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검증 및 보안 강화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1799" y="2212848"/>
            <a:ext cx="2046975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9641799" y="2212848"/>
            <a:ext cx="2046975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1799" y="2212848"/>
            <a:ext cx="20469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1527" y="2779776"/>
            <a:ext cx="1827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로드맵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6391" y="3236976"/>
            <a:ext cx="1717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조직에 맞는 운영 로드맵과 실행 계획을 완성합니다.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8103" y="3858768"/>
            <a:ext cx="177265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모델 설계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로드맵 및 우선순위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실행 계획 수립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78959" y="5870448"/>
            <a:ext cx="1772655" cy="31089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78959" y="5870448"/>
            <a:ext cx="17726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운영 로드맵 완성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비개발자 1주 과정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비개발자는 업무 포트폴리오, Skill 초안, RACI, 파일럿 브리프를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1892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1892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</a:t>
            </a:r>
          </a:p>
        </p:txBody>
      </p:sp>
      <p:sp>
        <p:nvSpPr>
          <p:cNvPr id="16" name="Oval 15"/>
          <p:cNvSpPr/>
          <p:nvPr/>
        </p:nvSpPr>
        <p:spPr>
          <a:xfrm>
            <a:off x="1253916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7718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포트폴리오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업무와 목표, 성과 지표를 정의</a:t>
            </a:r>
          </a:p>
        </p:txBody>
      </p:sp>
      <p:sp>
        <p:nvSpPr>
          <p:cNvPr id="20" name="Chevron 19"/>
          <p:cNvSpPr/>
          <p:nvPr/>
        </p:nvSpPr>
        <p:spPr>
          <a:xfrm>
            <a:off x="2562697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91297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50270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0270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2일차</a:t>
            </a:r>
          </a:p>
        </p:txBody>
      </p:sp>
      <p:sp>
        <p:nvSpPr>
          <p:cNvPr id="24" name="Oval 23"/>
          <p:cNvSpPr/>
          <p:nvPr/>
        </p:nvSpPr>
        <p:spPr>
          <a:xfrm>
            <a:off x="3542294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6096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2737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초안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9313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필요한 Skill을 정의하고 수준·역량을 초안화</a:t>
            </a:r>
          </a:p>
        </p:txBody>
      </p:sp>
      <p:sp>
        <p:nvSpPr>
          <p:cNvPr id="28" name="Chevron 27"/>
          <p:cNvSpPr/>
          <p:nvPr/>
        </p:nvSpPr>
        <p:spPr>
          <a:xfrm>
            <a:off x="4851074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79674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38647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8647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3일차</a:t>
            </a:r>
          </a:p>
        </p:txBody>
      </p:sp>
      <p:sp>
        <p:nvSpPr>
          <p:cNvPr id="32" name="Oval 31"/>
          <p:cNvSpPr/>
          <p:nvPr/>
        </p:nvSpPr>
        <p:spPr>
          <a:xfrm>
            <a:off x="5830671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84473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1114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 · RACI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7690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프로세스와 역할, 책임 구조를 설계</a:t>
            </a:r>
          </a:p>
        </p:txBody>
      </p:sp>
      <p:sp>
        <p:nvSpPr>
          <p:cNvPr id="36" name="Chevron 35"/>
          <p:cNvSpPr/>
          <p:nvPr/>
        </p:nvSpPr>
        <p:spPr>
          <a:xfrm>
            <a:off x="7139452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68052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27025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025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4일차</a:t>
            </a:r>
          </a:p>
        </p:txBody>
      </p:sp>
      <p:sp>
        <p:nvSpPr>
          <p:cNvPr id="40" name="Oval 39"/>
          <p:cNvSpPr/>
          <p:nvPr/>
        </p:nvSpPr>
        <p:spPr>
          <a:xfrm>
            <a:off x="8119049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2851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9492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· 위험 점검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6068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가정과 리스크를 점검하고 검증 계획을 수립</a:t>
            </a:r>
          </a:p>
        </p:txBody>
      </p:sp>
      <p:sp>
        <p:nvSpPr>
          <p:cNvPr id="44" name="Chevron 43"/>
          <p:cNvSpPr/>
          <p:nvPr/>
        </p:nvSpPr>
        <p:spPr>
          <a:xfrm>
            <a:off x="9427829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56429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15402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15402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5일차</a:t>
            </a:r>
          </a:p>
        </p:txBody>
      </p:sp>
      <p:sp>
        <p:nvSpPr>
          <p:cNvPr id="48" name="Oval 47"/>
          <p:cNvSpPr/>
          <p:nvPr/>
        </p:nvSpPr>
        <p:spPr>
          <a:xfrm>
            <a:off x="10407426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61228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47869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브리프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445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 목표, 범위, 성공 기준과 실행 계획을 정리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비개발자도 실무 중심 산출물로 AI 도입을 설계하고, 조직 내 협업과 실행을 주도합니다.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개발자 1주 과정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개발자는 참조 구현, 검증, Runbook, SLO를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1892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1892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</a:t>
            </a:r>
          </a:p>
        </p:txBody>
      </p:sp>
      <p:sp>
        <p:nvSpPr>
          <p:cNvPr id="16" name="Oval 15"/>
          <p:cNvSpPr/>
          <p:nvPr/>
        </p:nvSpPr>
        <p:spPr>
          <a:xfrm>
            <a:off x="1253916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7718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참조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기준 레포와 기본 실행 구조 구성</a:t>
            </a:r>
          </a:p>
        </p:txBody>
      </p:sp>
      <p:sp>
        <p:nvSpPr>
          <p:cNvPr id="20" name="Chevron 19"/>
          <p:cNvSpPr/>
          <p:nvPr/>
        </p:nvSpPr>
        <p:spPr>
          <a:xfrm>
            <a:off x="2562697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91297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50270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0270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2일차</a:t>
            </a:r>
          </a:p>
        </p:txBody>
      </p:sp>
      <p:sp>
        <p:nvSpPr>
          <p:cNvPr id="24" name="Oval 23"/>
          <p:cNvSpPr/>
          <p:nvPr/>
        </p:nvSpPr>
        <p:spPr>
          <a:xfrm>
            <a:off x="3542294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6096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2737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9313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재사용 가능한 Skill과 실행 규칙 정의</a:t>
            </a:r>
          </a:p>
        </p:txBody>
      </p:sp>
      <p:sp>
        <p:nvSpPr>
          <p:cNvPr id="28" name="Chevron 27"/>
          <p:cNvSpPr/>
          <p:nvPr/>
        </p:nvSpPr>
        <p:spPr>
          <a:xfrm>
            <a:off x="4851074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79674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38647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8647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3일차</a:t>
            </a:r>
          </a:p>
        </p:txBody>
      </p:sp>
      <p:sp>
        <p:nvSpPr>
          <p:cNvPr id="32" name="Oval 31"/>
          <p:cNvSpPr/>
          <p:nvPr/>
        </p:nvSpPr>
        <p:spPr>
          <a:xfrm>
            <a:off x="5830671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84473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1114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 · 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7690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오케스트레이션과 단계 분해 설계</a:t>
            </a:r>
          </a:p>
        </p:txBody>
      </p:sp>
      <p:sp>
        <p:nvSpPr>
          <p:cNvPr id="36" name="Chevron 35"/>
          <p:cNvSpPr/>
          <p:nvPr/>
        </p:nvSpPr>
        <p:spPr>
          <a:xfrm>
            <a:off x="7139452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68052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27025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025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4일차</a:t>
            </a:r>
          </a:p>
        </p:txBody>
      </p:sp>
      <p:sp>
        <p:nvSpPr>
          <p:cNvPr id="40" name="Oval 39"/>
          <p:cNvSpPr/>
          <p:nvPr/>
        </p:nvSpPr>
        <p:spPr>
          <a:xfrm>
            <a:off x="8119049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2851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9492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 · SLO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6068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기준과 운영 성능 목표 정리</a:t>
            </a:r>
          </a:p>
        </p:txBody>
      </p:sp>
      <p:sp>
        <p:nvSpPr>
          <p:cNvPr id="44" name="Chevron 43"/>
          <p:cNvSpPr/>
          <p:nvPr/>
        </p:nvSpPr>
        <p:spPr>
          <a:xfrm>
            <a:off x="9427829" y="373532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56429" y="2039112"/>
            <a:ext cx="2032345" cy="359359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15402" y="22951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15402" y="22951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5일차</a:t>
            </a:r>
          </a:p>
        </p:txBody>
      </p:sp>
      <p:sp>
        <p:nvSpPr>
          <p:cNvPr id="48" name="Oval 47"/>
          <p:cNvSpPr/>
          <p:nvPr/>
        </p:nvSpPr>
        <p:spPr>
          <a:xfrm>
            <a:off x="10407426" y="2798064"/>
            <a:ext cx="530352" cy="530352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61228" y="2951866"/>
            <a:ext cx="222747" cy="222747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47869" y="3410712"/>
            <a:ext cx="18494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Runbook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445" y="3831335"/>
            <a:ext cx="177631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절차와 대응 가이드 문서화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개발자는 실행 구조와 운영 기준을 함께 설계합니다.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1: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전략 정렬과 표준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조직 목표와 자동화 포트폴리오를 연결한다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502920" y="2039112"/>
            <a:ext cx="4937760" cy="502920"/>
          </a:xfrm>
          <a:prstGeom prst="round2Same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목표 정의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79191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915411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2770632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비즈니스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063239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조직의 핵심 목표와 전략적 방향을 정의합니다.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63696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899915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3755136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핵심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047744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목표 달성을 위한 주요 과제와 해결이 필요한 영역을 식별합니다.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48200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4884420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" y="4739640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성과 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032248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성과를 측정할 수 있는 KPI와 정량적 지표를 설정합니다.</a:t>
            </a:r>
          </a:p>
        </p:txBody>
      </p:sp>
      <p:sp>
        <p:nvSpPr>
          <p:cNvPr id="27" name="Round Same Side Corner Rectangle 26"/>
          <p:cNvSpPr/>
          <p:nvPr/>
        </p:nvSpPr>
        <p:spPr>
          <a:xfrm>
            <a:off x="6751015" y="2039112"/>
            <a:ext cx="4937760" cy="502920"/>
          </a:xfrm>
          <a:prstGeom prst="round2Same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1015" y="2039112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자동화 포트폴리오 구성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51015" y="2679191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33895" y="2915411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4247" y="2770632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우선 업무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4247" y="3063239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가치가 높고 영향이 큰 업무를 우선순위로 선정합니다.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51015" y="3663696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33895" y="3899915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4247" y="3755136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자동화 후보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4247" y="4047744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특성과 자동화 가능성을 기준으로 후보를 도출합니다.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1015" y="4648200"/>
            <a:ext cx="4937760" cy="8382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33895" y="4884420"/>
            <a:ext cx="365760" cy="3657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4247" y="4739640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표준화 대상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4247" y="5032248"/>
            <a:ext cx="4069080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공통 절차와 규칙이 필요한 영역을 표준화 대상으로 정의합니다.</a:t>
            </a:r>
          </a:p>
        </p:txBody>
      </p:sp>
      <p:sp>
        <p:nvSpPr>
          <p:cNvPr id="41" name="Chevron 40"/>
          <p:cNvSpPr/>
          <p:nvPr/>
        </p:nvSpPr>
        <p:spPr>
          <a:xfrm>
            <a:off x="5890107" y="3630168"/>
            <a:ext cx="411480" cy="4114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목표  →  우선순위  →  포트폴리오 구조화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2: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Skill을 버전 관리되는 조직 자산으로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13" name="Oval 12"/>
          <p:cNvSpPr/>
          <p:nvPr/>
        </p:nvSpPr>
        <p:spPr>
          <a:xfrm>
            <a:off x="5227167" y="2857500"/>
            <a:ext cx="1737360" cy="173736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7167" y="285750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1529791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5727" y="1621231"/>
            <a:ext cx="1920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5727" y="1950415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목적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5030" y="2747336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6470" y="2838776"/>
            <a:ext cx="1920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6470" y="316796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Skill 초안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439" y="4717367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1879" y="4808807"/>
            <a:ext cx="1920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1879" y="5137991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품질 · 승인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8136" y="4717367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9576" y="4808807"/>
            <a:ext cx="1920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배포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9576" y="5137991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현업 적용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3544" y="2747336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4984" y="2838776"/>
            <a:ext cx="1920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4984" y="316796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피드백 반영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Skill은 일회성 프롬프트가 아니라 지속 관리되는 자산입니다.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3: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 / Task /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승인, 책임, 위임, 실패 복구를 설계한다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8149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8149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6" name="Oval 15"/>
          <p:cNvSpPr/>
          <p:nvPr/>
        </p:nvSpPr>
        <p:spPr>
          <a:xfrm>
            <a:off x="198927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48382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정상 흐름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예외 흐름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 지점</a:t>
            </a:r>
          </a:p>
        </p:txBody>
      </p:sp>
      <p:sp>
        <p:nvSpPr>
          <p:cNvPr id="20" name="Chevron 19"/>
          <p:cNvSpPr/>
          <p:nvPr/>
        </p:nvSpPr>
        <p:spPr>
          <a:xfrm>
            <a:off x="406085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517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0399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0399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4" name="Oval 23"/>
          <p:cNvSpPr/>
          <p:nvPr/>
        </p:nvSpPr>
        <p:spPr>
          <a:xfrm>
            <a:off x="582152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063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489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462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입력·출력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실패 처리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9310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74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72650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2650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9653778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1288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71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책임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위임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실행 구조와 운영 책임을 함께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4: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Workspace / 보안 /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보존, 접근 권한, 검증 fixture를 정의한다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8927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48382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폴더 규칙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보존 기준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버전 관리</a:t>
            </a:r>
          </a:p>
        </p:txBody>
      </p:sp>
      <p:sp>
        <p:nvSpPr>
          <p:cNvPr id="18" name="Chevron 17"/>
          <p:cNvSpPr/>
          <p:nvPr/>
        </p:nvSpPr>
        <p:spPr>
          <a:xfrm>
            <a:off x="406085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3517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2152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063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489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462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접근 권한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비밀정보</a:t>
            </a:r>
          </a:p>
        </p:txBody>
      </p:sp>
      <p:sp>
        <p:nvSpPr>
          <p:cNvPr id="24" name="Chevron 23"/>
          <p:cNvSpPr/>
          <p:nvPr/>
        </p:nvSpPr>
        <p:spPr>
          <a:xfrm>
            <a:off x="789310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674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53778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1288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71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68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fixture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체크리스트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작업 공간, 보안, 검증 기준이 함께 정의되어야 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5: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· 런북 ·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파일럿 운영과 확산 로드맵을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84832"/>
            <a:ext cx="3383280" cy="354787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942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987802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7320" y="2871216"/>
            <a:ext cx="2103120" cy="4526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871216"/>
            <a:ext cx="2011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배포 및 실행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623310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7320" y="3506724"/>
            <a:ext cx="2103120" cy="4526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506724"/>
            <a:ext cx="2011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모니터링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258818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17320" y="4142232"/>
            <a:ext cx="2103120" cy="4526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42232"/>
            <a:ext cx="2011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예외 처리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894326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17320" y="4777740"/>
            <a:ext cx="2103120" cy="4526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4777740"/>
            <a:ext cx="2011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변경 관리</a:t>
            </a:r>
          </a:p>
        </p:txBody>
      </p:sp>
      <p:sp>
        <p:nvSpPr>
          <p:cNvPr id="27" name="Chevron 26"/>
          <p:cNvSpPr/>
          <p:nvPr/>
        </p:nvSpPr>
        <p:spPr>
          <a:xfrm>
            <a:off x="3931920" y="3675888"/>
            <a:ext cx="365760" cy="36576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2084832"/>
            <a:ext cx="7299655" cy="354787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249424"/>
            <a:ext cx="7299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확산 Roadmap</a:t>
            </a:r>
          </a:p>
        </p:txBody>
      </p:sp>
      <p:sp>
        <p:nvSpPr>
          <p:cNvPr id="30" name="Oval 29"/>
          <p:cNvSpPr/>
          <p:nvPr/>
        </p:nvSpPr>
        <p:spPr>
          <a:xfrm>
            <a:off x="5109552" y="3758184"/>
            <a:ext cx="658368" cy="65836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00479" y="3949110"/>
            <a:ext cx="276514" cy="27651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498848"/>
            <a:ext cx="1733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64024"/>
            <a:ext cx="17334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0~1개월</a:t>
            </a:r>
          </a:p>
        </p:txBody>
      </p:sp>
      <p:sp>
        <p:nvSpPr>
          <p:cNvPr id="34" name="Chevron 33"/>
          <p:cNvSpPr/>
          <p:nvPr/>
        </p:nvSpPr>
        <p:spPr>
          <a:xfrm>
            <a:off x="6204889" y="398678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43026" y="3758184"/>
            <a:ext cx="658368" cy="65836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33953" y="3949110"/>
            <a:ext cx="276514" cy="27651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5473" y="4498848"/>
            <a:ext cx="1733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확장 준비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473" y="4764024"/>
            <a:ext cx="17334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2~3개월</a:t>
            </a:r>
          </a:p>
        </p:txBody>
      </p:sp>
      <p:sp>
        <p:nvSpPr>
          <p:cNvPr id="39" name="Chevron 38"/>
          <p:cNvSpPr/>
          <p:nvPr/>
        </p:nvSpPr>
        <p:spPr>
          <a:xfrm>
            <a:off x="7938363" y="398678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76500" y="3758184"/>
            <a:ext cx="658368" cy="65836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67427" y="3949110"/>
            <a:ext cx="276514" cy="27651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8947" y="4498848"/>
            <a:ext cx="1733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부서 확장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8947" y="4764024"/>
            <a:ext cx="17334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4~6개월</a:t>
            </a:r>
          </a:p>
        </p:txBody>
      </p:sp>
      <p:sp>
        <p:nvSpPr>
          <p:cNvPr id="44" name="Chevron 43"/>
          <p:cNvSpPr/>
          <p:nvPr/>
        </p:nvSpPr>
        <p:spPr>
          <a:xfrm>
            <a:off x="9671837" y="3986784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09974" y="3758184"/>
            <a:ext cx="658368" cy="65836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00901" y="3949110"/>
            <a:ext cx="276514" cy="27651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72421" y="4498848"/>
            <a:ext cx="1733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조직 확산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2421" y="4764024"/>
            <a:ext cx="17334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6개월+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안정적 운영을 기반으로 조직 확산 계획을 수립한다.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혼합 1주 운영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비개발자와 개발자가 매일 연결 리뷰를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545738" cy="30815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993392"/>
            <a:ext cx="3545738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93392"/>
            <a:ext cx="35457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비개발자 트랙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96896"/>
            <a:ext cx="3179978" cy="2350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01  업무/문제 정의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02  우선순위 결정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03  Skill 초안 작성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04  RACI / 승인 구조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05  파일럿 브리프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2978" y="1993392"/>
            <a:ext cx="3545738" cy="3081527"/>
          </a:xfrm>
          <a:prstGeom prst="roundRect">
            <a:avLst>
              <a:gd name="adj" fmla="val 5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2978" y="2176272"/>
            <a:ext cx="35457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일일 연결 리뷰</a:t>
            </a:r>
          </a:p>
          <a:p>
            <a:pPr algn="ctr"/>
            <a:r>
              <a:rPr sz="11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(Daily Sync)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7298" y="3090672"/>
            <a:ext cx="2997098" cy="292607"/>
          </a:xfrm>
          <a:prstGeom prst="roundRect">
            <a:avLst>
              <a:gd name="adj" fmla="val 2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7298" y="3090672"/>
            <a:ext cx="2997098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진행 공유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7298" y="3529584"/>
            <a:ext cx="2997098" cy="292607"/>
          </a:xfrm>
          <a:prstGeom prst="roundRect">
            <a:avLst>
              <a:gd name="adj" fmla="val 2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7298" y="3529584"/>
            <a:ext cx="2997098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이슈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7298" y="3968496"/>
            <a:ext cx="2997098" cy="292607"/>
          </a:xfrm>
          <a:prstGeom prst="roundRect">
            <a:avLst>
              <a:gd name="adj" fmla="val 2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7298" y="3968496"/>
            <a:ext cx="2997098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의사결정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7298" y="4407408"/>
            <a:ext cx="2997098" cy="292607"/>
          </a:xfrm>
          <a:prstGeom prst="roundRect">
            <a:avLst>
              <a:gd name="adj" fmla="val 2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7298" y="4407408"/>
            <a:ext cx="2997098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단계 확정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3036" y="1993392"/>
            <a:ext cx="3545738" cy="30815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8143036" y="1993392"/>
            <a:ext cx="3545738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3036" y="1993392"/>
            <a:ext cx="35457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개발자 트랙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4204" y="2596896"/>
            <a:ext cx="3179978" cy="2350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01  참조 구현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02  Workflow 설계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03  검증 / 테스트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04  보안 및 권한 설계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05  Runbook / SLO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" y="5184648"/>
            <a:ext cx="2650159" cy="384048"/>
          </a:xfrm>
          <a:prstGeom prst="roundRect">
            <a:avLst>
              <a:gd name="adj" fmla="val 2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184648"/>
            <a:ext cx="2650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공통 백로그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2535" y="5184648"/>
            <a:ext cx="2650159" cy="384048"/>
          </a:xfrm>
          <a:prstGeom prst="roundRect">
            <a:avLst>
              <a:gd name="adj" fmla="val 2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2535" y="5184648"/>
            <a:ext cx="2650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공유 문서/아티팩트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8999" y="5184648"/>
            <a:ext cx="2650159" cy="384048"/>
          </a:xfrm>
          <a:prstGeom prst="roundRect">
            <a:avLst>
              <a:gd name="adj" fmla="val 2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8999" y="5184648"/>
            <a:ext cx="2650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이슈 &amp; 결정 관리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5463" y="5184648"/>
            <a:ext cx="2650159" cy="384048"/>
          </a:xfrm>
          <a:prstGeom prst="roundRect">
            <a:avLst>
              <a:gd name="adj" fmla="val 2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5463" y="5184648"/>
            <a:ext cx="2650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진행 상황 가시화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52160"/>
            <a:ext cx="11185855" cy="40233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852160"/>
            <a:ext cx="1063721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매일 연결, 빠르게 검증, 함께 결정한다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최종 패키지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조직 확산 가능한 패키지가 완성된다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108960" cy="4279392"/>
          </a:xfrm>
          <a:prstGeom prst="roundRect">
            <a:avLst>
              <a:gd name="adj" fmla="val 5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76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AI-Automation-Standard-Package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11272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2706624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01_Business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85160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080512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02_Skill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59048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454400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03_Workflow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2936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3828288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04_Governance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06824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202176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05_Workspace &amp; 보안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80712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576064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06_Verification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54600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949952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07_운영 (Runbook)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428488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5323840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08_지표 및 SLO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02376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5697728"/>
            <a:ext cx="2286000" cy="373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09_확산 로드맵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1993392"/>
            <a:ext cx="4114800" cy="4279392"/>
          </a:xfrm>
          <a:prstGeom prst="roundRect">
            <a:avLst>
              <a:gd name="adj" fmla="val 4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21579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패키지 구성 요소</a:t>
            </a:r>
          </a:p>
        </p:txBody>
      </p:sp>
      <p:sp>
        <p:nvSpPr>
          <p:cNvPr id="35" name="Oval 34"/>
          <p:cNvSpPr/>
          <p:nvPr/>
        </p:nvSpPr>
        <p:spPr>
          <a:xfrm>
            <a:off x="4160520" y="2864815"/>
            <a:ext cx="237744" cy="23774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2633472"/>
            <a:ext cx="3246120" cy="7004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문서 (Docs)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— 표준 문서와 가이드 포함</a:t>
            </a:r>
          </a:p>
        </p:txBody>
      </p:sp>
      <p:sp>
        <p:nvSpPr>
          <p:cNvPr id="37" name="Oval 36"/>
          <p:cNvSpPr/>
          <p:nvPr/>
        </p:nvSpPr>
        <p:spPr>
          <a:xfrm>
            <a:off x="4160520" y="3565245"/>
            <a:ext cx="237744" cy="23774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333902"/>
            <a:ext cx="3246120" cy="7004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실행 구조 (Artifacts)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— 템플릿, 코드, 설정 파일 등</a:t>
            </a:r>
          </a:p>
        </p:txBody>
      </p:sp>
      <p:sp>
        <p:nvSpPr>
          <p:cNvPr id="39" name="Oval 38"/>
          <p:cNvSpPr/>
          <p:nvPr/>
        </p:nvSpPr>
        <p:spPr>
          <a:xfrm>
            <a:off x="4160520" y="4265676"/>
            <a:ext cx="237744" cy="23774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4034332"/>
            <a:ext cx="3246120" cy="7004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(Verification)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— 검증 기준 및 체크리스트</a:t>
            </a:r>
          </a:p>
        </p:txBody>
      </p:sp>
      <p:sp>
        <p:nvSpPr>
          <p:cNvPr id="41" name="Oval 40"/>
          <p:cNvSpPr/>
          <p:nvPr/>
        </p:nvSpPr>
        <p:spPr>
          <a:xfrm>
            <a:off x="4160520" y="4966106"/>
            <a:ext cx="237744" cy="23774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734763"/>
            <a:ext cx="3246120" cy="7004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(Operations)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— 운영 절차 및 가이드</a:t>
            </a:r>
          </a:p>
        </p:txBody>
      </p:sp>
      <p:sp>
        <p:nvSpPr>
          <p:cNvPr id="43" name="Oval 42"/>
          <p:cNvSpPr/>
          <p:nvPr/>
        </p:nvSpPr>
        <p:spPr>
          <a:xfrm>
            <a:off x="4160520" y="5666536"/>
            <a:ext cx="237744" cy="23774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5435193"/>
            <a:ext cx="3246120" cy="7004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거버넌스 (Governance)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— 정책, 기준, 역할 및 권한</a:t>
            </a:r>
          </a:p>
        </p:txBody>
      </p:sp>
      <p:sp>
        <p:nvSpPr>
          <p:cNvPr id="45" name="Chevron 44"/>
          <p:cNvSpPr/>
          <p:nvPr/>
        </p:nvSpPr>
        <p:spPr>
          <a:xfrm>
            <a:off x="8055864" y="3986784"/>
            <a:ext cx="292608" cy="29260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0" y="1993392"/>
            <a:ext cx="3276295" cy="8641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86215" y="2215134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08196" y="2337114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0848" y="1993392"/>
            <a:ext cx="249905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재사용 가능한 표준 패키지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3131820"/>
            <a:ext cx="3276295" cy="8641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586215" y="3353562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08196" y="3475542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3131820"/>
            <a:ext cx="249905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버전 관리 가능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4270248"/>
            <a:ext cx="3276295" cy="8641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86215" y="4491990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08196" y="4613970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0848" y="4270248"/>
            <a:ext cx="249905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조직 내 재사용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5408675"/>
            <a:ext cx="3276295" cy="8641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86215" y="5630417"/>
            <a:ext cx="420624" cy="42062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08196" y="5752398"/>
            <a:ext cx="176662" cy="176662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70848" y="5408675"/>
            <a:ext cx="249905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확산 기반 마련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표준화, 운영, 보안, 검증 기준이 포함되어야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93392"/>
            <a:ext cx="1398231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93392"/>
            <a:ext cx="121535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151" y="1993392"/>
            <a:ext cx="4947589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2591" y="1993392"/>
            <a:ext cx="476470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항목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8741" y="1993392"/>
            <a:ext cx="3872026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181" y="1993392"/>
            <a:ext cx="36891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20768" y="1993392"/>
            <a:ext cx="968006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12208" y="1993392"/>
            <a:ext cx="7851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50592"/>
            <a:ext cx="1398231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450592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표준화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1151" y="2450592"/>
            <a:ext cx="4947589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0879" y="2450592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업무·데이터·프로세스 표준이 정의되어 문서화되었는가?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8741" y="2450592"/>
            <a:ext cx="387202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8469" y="2450592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표준 정의서, 코드북, 프로세스 맵 승인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20768" y="2450592"/>
            <a:ext cx="96800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95043" y="2612136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5043" y="260299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93136"/>
            <a:ext cx="1398231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2993136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1151" y="2993136"/>
            <a:ext cx="4947589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0879" y="2993136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절차, 역할, 도구가 수립되고 실행 가능한가?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48741" y="2993136"/>
            <a:ext cx="387202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8469" y="2993136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매뉴얼, R&amp;R, 도구 구성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20768" y="2993136"/>
            <a:ext cx="96800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95043" y="315468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95043" y="314553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535680"/>
            <a:ext cx="1398231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3535680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01151" y="3535680"/>
            <a:ext cx="4947589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0879" y="3535680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접근 통제, 개인정보 보호, 보안 통제가 적용되었는가?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48741" y="3535680"/>
            <a:ext cx="387202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469" y="3535680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보안 정책 수립 및 통제 항목 적용 완료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20768" y="3535680"/>
            <a:ext cx="96800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95043" y="3697224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95043" y="368808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078224"/>
            <a:ext cx="1398231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4078224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01151" y="4078224"/>
            <a:ext cx="4947589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0879" y="4078224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기준, 테스트, 품질 체크리스트가 마련되었는가?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48741" y="4078224"/>
            <a:ext cx="387202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58469" y="4078224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시나리오 실행 및 결과 기준 충족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20768" y="4078224"/>
            <a:ext cx="96800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95043" y="4239768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95043" y="423062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620768"/>
            <a:ext cx="1398231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4620768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지표/SLO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01151" y="4620768"/>
            <a:ext cx="4947589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0879" y="4620768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지표와 SLO가 정의되고 측정 체계가 준비되었는가?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48741" y="4620768"/>
            <a:ext cx="387202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58469" y="4620768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지표 정의, SLO 설정 및 대시보드 구성 완료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20768" y="4620768"/>
            <a:ext cx="968006" cy="54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095043" y="4782312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95043" y="477316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163312"/>
            <a:ext cx="1398231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5163312"/>
            <a:ext cx="119706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확산 준비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1151" y="5163312"/>
            <a:ext cx="4947589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10879" y="5163312"/>
            <a:ext cx="4746421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확산 계획, 교육, 커뮤니케이션이 수립되었는가?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48741" y="5163312"/>
            <a:ext cx="387202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8469" y="5163312"/>
            <a:ext cx="3670858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확산 계획 승인 및 실행 준비 완료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20768" y="5163312"/>
            <a:ext cx="968006" cy="542544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095043" y="5324856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95043" y="531571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5833872"/>
            <a:ext cx="11185855" cy="402336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833872"/>
            <a:ext cx="1063721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모든 완료 기준을 충족해야 조직 표준 패키지로 확정된다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조직 확산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파일럿 후 단계적으로 조직 전체에 확산한다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1575" y="6501384"/>
            <a:ext cx="457200" cy="292608"/>
          </a:xfrm>
          <a:prstGeom prst="roundRect">
            <a:avLst>
              <a:gd name="adj" fmla="val 18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1575" y="650138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8149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8149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30일</a:t>
            </a:r>
          </a:p>
        </p:txBody>
      </p:sp>
      <p:sp>
        <p:nvSpPr>
          <p:cNvPr id="16" name="Oval 15"/>
          <p:cNvSpPr/>
          <p:nvPr/>
        </p:nvSpPr>
        <p:spPr>
          <a:xfrm>
            <a:off x="198927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48382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30일 -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 안정화 및 개선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모니터링 정착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초기 운영 지표 확보</a:t>
            </a:r>
          </a:p>
        </p:txBody>
      </p:sp>
      <p:sp>
        <p:nvSpPr>
          <p:cNvPr id="20" name="Chevron 19"/>
          <p:cNvSpPr/>
          <p:nvPr/>
        </p:nvSpPr>
        <p:spPr>
          <a:xfrm>
            <a:off x="406085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517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0399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0399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60일</a:t>
            </a:r>
          </a:p>
        </p:txBody>
      </p:sp>
      <p:sp>
        <p:nvSpPr>
          <p:cNvPr id="24" name="Oval 23"/>
          <p:cNvSpPr/>
          <p:nvPr/>
        </p:nvSpPr>
        <p:spPr>
          <a:xfrm>
            <a:off x="5821527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063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489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60일 - 확장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462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적용 업무/부서 확장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표준 프로세스 정착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체계 고도화</a:t>
            </a:r>
          </a:p>
        </p:txBody>
      </p:sp>
      <p:sp>
        <p:nvSpPr>
          <p:cNvPr id="28" name="Chevron 27"/>
          <p:cNvSpPr/>
          <p:nvPr/>
        </p:nvSpPr>
        <p:spPr>
          <a:xfrm>
            <a:off x="7893100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7420" y="1993392"/>
            <a:ext cx="3521354" cy="3639312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72650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2650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90일</a:t>
            </a:r>
          </a:p>
        </p:txBody>
      </p:sp>
      <p:sp>
        <p:nvSpPr>
          <p:cNvPr id="32" name="Oval 31"/>
          <p:cNvSpPr/>
          <p:nvPr/>
        </p:nvSpPr>
        <p:spPr>
          <a:xfrm>
            <a:off x="9653778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12883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7148" y="3291840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90일 - 표준화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785616"/>
            <a:ext cx="3155594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조직 표준으로 채택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거버넌스 체계 고도화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전사 확산 로드맵 수립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지속적인 측정</a:t>
            </a:r>
          </a:p>
        </p:txBody>
      </p:sp>
      <p:sp>
        <p:nvSpPr>
          <p:cNvPr id="39" name="Chevron 38"/>
          <p:cNvSpPr/>
          <p:nvPr/>
        </p:nvSpPr>
        <p:spPr>
          <a:xfrm>
            <a:off x="2648651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49819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88147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42" name="Chevron 41"/>
          <p:cNvSpPr/>
          <p:nvPr/>
        </p:nvSpPr>
        <p:spPr>
          <a:xfrm>
            <a:off x="4885822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86990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25318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</a:p>
        </p:txBody>
      </p:sp>
      <p:sp>
        <p:nvSpPr>
          <p:cNvPr id="45" name="Chevron 44"/>
          <p:cNvSpPr/>
          <p:nvPr/>
        </p:nvSpPr>
        <p:spPr>
          <a:xfrm>
            <a:off x="7122993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4161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62489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표준화</a:t>
            </a:r>
          </a:p>
        </p:txBody>
      </p:sp>
      <p:sp>
        <p:nvSpPr>
          <p:cNvPr id="48" name="Chevron 47"/>
          <p:cNvSpPr/>
          <p:nvPr/>
        </p:nvSpPr>
        <p:spPr>
          <a:xfrm>
            <a:off x="9360164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61332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99660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확산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